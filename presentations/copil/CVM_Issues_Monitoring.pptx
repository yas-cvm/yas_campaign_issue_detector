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7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eco:strip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deco:accent"/>
          <p:cNvSpPr/>
          <p:nvPr/>
        </p:nvSpPr>
        <p:spPr>
          <a:xfrm>
            <a:off x="384048" y="1965960"/>
            <a:ext cx="73152" cy="22860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hdr:kicker"/>
          <p:cNvSpPr/>
          <p:nvPr/>
        </p:nvSpPr>
        <p:spPr>
          <a:xfrm>
            <a:off x="640080" y="1965960"/>
            <a:ext cx="2127031" cy="246888"/>
          </a:xfrm>
          <a:prstGeom prst="roundRect">
            <a:avLst>
              <a:gd name="adj" fmla="val 18000"/>
            </a:avLst>
          </a:prstGeom>
          <a:solidFill>
            <a:srgbClr val="FFD100"/>
          </a:solidFill>
          <a:ln>
            <a:noFill/>
          </a:ln>
        </p:spPr>
        <p:txBody>
          <a:bodyPr rtlCol="0" anchor="ctr" tIns="0" bIns="0" wrap="none"/>
          <a:lstStyle/>
          <a:p>
            <a:pPr algn="ctr"/>
            <a:r>
              <a:rPr sz="1050" b="1" i="0">
                <a:solidFill>
                  <a:srgbClr val="00377D"/>
                </a:solidFill>
                <a:latin typeface="Figtree"/>
              </a:rPr>
              <a:t>CVM · ISSUES MONITORING</a:t>
            </a:r>
          </a:p>
        </p:txBody>
      </p:sp>
      <p:sp>
        <p:nvSpPr>
          <p:cNvPr id="6" name="hdr:title"/>
          <p:cNvSpPr txBox="1"/>
          <p:nvPr/>
        </p:nvSpPr>
        <p:spPr>
          <a:xfrm>
            <a:off x="640080" y="2322576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Figtree"/>
              </a:rPr>
              <a:t>CVM Issues Monitoring :</a:t>
            </a:r>
          </a:p>
          <a:p>
            <a:pPr algn="l"/>
            <a:r>
              <a:rPr sz="2800" b="1" i="1">
                <a:solidFill>
                  <a:srgbClr val="FFD100"/>
                </a:solidFill>
                <a:latin typeface="Figtree"/>
              </a:rPr>
              <a:t>surveiller les campagnes CVM au quotidien</a:t>
            </a:r>
          </a:p>
        </p:txBody>
      </p:sp>
      <p:sp>
        <p:nvSpPr>
          <p:cNvPr id="7" name="hdr:subtitle"/>
          <p:cNvSpPr txBox="1"/>
          <p:nvPr/>
        </p:nvSpPr>
        <p:spPr>
          <a:xfrm>
            <a:off x="640080" y="388620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C7DBEF"/>
                </a:solidFill>
                <a:latin typeface="Figtree"/>
              </a:rPr>
              <a:t>Objectifs et état d'avancement</a:t>
            </a:r>
          </a:p>
        </p:txBody>
      </p:sp>
      <p:sp>
        <p:nvSpPr>
          <p:cNvPr id="8" name="cover:meta"/>
          <p:cNvSpPr txBox="1"/>
          <p:nvPr/>
        </p:nvSpPr>
        <p:spPr>
          <a:xfrm>
            <a:off x="640080" y="576072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Figtree"/>
              </a:rPr>
              <a:t>Octobre 2026  ·  Équipe CVM</a:t>
            </a:r>
          </a:p>
        </p:txBody>
      </p:sp>
      <p:pic>
        <p:nvPicPr>
          <p:cNvPr id="9" name="hdr:logo" descr="logo-y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672" y="512064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accent"/>
          <p:cNvSpPr/>
          <p:nvPr/>
        </p:nvSpPr>
        <p:spPr>
          <a:xfrm>
            <a:off x="384048" y="310896"/>
            <a:ext cx="54864" cy="1033271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dr:kicker"/>
          <p:cNvSpPr/>
          <p:nvPr/>
        </p:nvSpPr>
        <p:spPr>
          <a:xfrm>
            <a:off x="566928" y="310896"/>
            <a:ext cx="2127031" cy="246888"/>
          </a:xfrm>
          <a:prstGeom prst="roundRect">
            <a:avLst>
              <a:gd name="adj" fmla="val 18000"/>
            </a:avLst>
          </a:prstGeom>
          <a:solidFill>
            <a:srgbClr val="FFD100"/>
          </a:solidFill>
          <a:ln>
            <a:noFill/>
          </a:ln>
        </p:spPr>
        <p:txBody>
          <a:bodyPr rtlCol="0" anchor="ctr" lIns="45720" rIns="45720" tIns="0" bIns="0" wrap="none"/>
          <a:lstStyle/>
          <a:p>
            <a:pPr algn="ctr"/>
            <a:r>
              <a:rPr sz="1050" b="1" i="0">
                <a:solidFill>
                  <a:srgbClr val="00377D"/>
                </a:solidFill>
                <a:latin typeface="Figtree"/>
              </a:rPr>
              <a:t>CVM · ISSUES MONITORING</a:t>
            </a:r>
          </a:p>
        </p:txBody>
      </p:sp>
      <p:sp>
        <p:nvSpPr>
          <p:cNvPr id="4" name="hdr:title"/>
          <p:cNvSpPr txBox="1"/>
          <p:nvPr/>
        </p:nvSpPr>
        <p:spPr>
          <a:xfrm>
            <a:off x="566928" y="62179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00377D"/>
                </a:solidFill>
                <a:latin typeface="Figtree"/>
              </a:rPr>
              <a:t>Objectifs : </a:t>
            </a:r>
            <a:r>
              <a:rPr sz="2400" b="1" i="1">
                <a:solidFill>
                  <a:srgbClr val="5F99D2"/>
                </a:solidFill>
                <a:latin typeface="Figtree"/>
              </a:rPr>
              <a:t>repérer vite les campagnes en échec et agir avant la perte</a:t>
            </a:r>
          </a:p>
        </p:txBody>
      </p:sp>
      <p:sp>
        <p:nvSpPr>
          <p:cNvPr id="5" name="hdr:subtitle"/>
          <p:cNvSpPr txBox="1"/>
          <p:nvPr/>
        </p:nvSpPr>
        <p:spPr>
          <a:xfrm>
            <a:off x="566928" y="1444752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5B6674"/>
                </a:solidFill>
                <a:latin typeface="Figtree"/>
              </a:rPr>
              <a:t>Besoins fonctionnels attendus</a:t>
            </a:r>
          </a:p>
        </p:txBody>
      </p:sp>
      <p:pic>
        <p:nvPicPr>
          <p:cNvPr id="6" name="hdr:logo" descr="logo-y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329184"/>
            <a:ext cx="749808" cy="749808"/>
          </a:xfrm>
          <a:prstGeom prst="rect">
            <a:avLst/>
          </a:prstGeom>
        </p:spPr>
      </p:pic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84048" y="1883664"/>
          <a:ext cx="11420856" cy="43159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33908"/>
                <a:gridCol w="7786948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Figtree"/>
                        </a:rPr>
                        <a:t>Fonctionnalité</a:t>
                      </a:r>
                    </a:p>
                  </a:txBody>
                  <a:tcPr marL="128016" marR="128016" marT="45720" marB="45720" anchor="ctr">
                    <a:solidFill>
                      <a:srgbClr val="0037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Figtree"/>
                        </a:rPr>
                        <a:t>Besoin attendu</a:t>
                      </a:r>
                    </a:p>
                  </a:txBody>
                  <a:tcPr marL="128016" marR="128016" marT="45720" marB="45720" anchor="ctr">
                    <a:solidFill>
                      <a:srgbClr val="00377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Import quotidien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Lire et historiser chaque fichier NEON-dx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Détection d'anomalies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Repérer envois bloqués, non livrés, sans conversion (≈ 25 règles)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Alertes Teams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Prévenir l'équipe dès qu'une anomalie critique apparaît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Tableau de bord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Explorer alertes, campagnes Push et Inbound, tendances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Alertes e-mail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Récapitulatif quotidien aux bons destinataires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Validation des seuils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Ajuster les règles avec les équipes CVM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Traitement automatique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A33"/>
                          </a:solidFill>
                          <a:latin typeface="Figtree"/>
                        </a:rPr>
                        <a:t>Exécution quotidienne sans action manuelle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tr:source"/>
          <p:cNvSpPr txBox="1"/>
          <p:nvPr/>
        </p:nvSpPr>
        <p:spPr>
          <a:xfrm>
            <a:off x="384048" y="6473952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8A95A3"/>
                </a:solidFill>
                <a:latin typeface="Figtree"/>
              </a:rPr>
              <a:t>Source : cahier des besoins CVM Issues Monitoring</a:t>
            </a:r>
          </a:p>
        </p:txBody>
      </p:sp>
      <p:sp>
        <p:nvSpPr>
          <p:cNvPr id="9" name="ftr:page"/>
          <p:cNvSpPr txBox="1"/>
          <p:nvPr/>
        </p:nvSpPr>
        <p:spPr>
          <a:xfrm>
            <a:off x="1133856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i="0">
                <a:solidFill>
                  <a:srgbClr val="8A95A3"/>
                </a:solidFill>
                <a:latin typeface="Figtre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accent"/>
          <p:cNvSpPr/>
          <p:nvPr/>
        </p:nvSpPr>
        <p:spPr>
          <a:xfrm>
            <a:off x="384048" y="310896"/>
            <a:ext cx="54864" cy="1033271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dr:kicker"/>
          <p:cNvSpPr/>
          <p:nvPr/>
        </p:nvSpPr>
        <p:spPr>
          <a:xfrm>
            <a:off x="566928" y="310896"/>
            <a:ext cx="2127031" cy="246888"/>
          </a:xfrm>
          <a:prstGeom prst="roundRect">
            <a:avLst>
              <a:gd name="adj" fmla="val 18000"/>
            </a:avLst>
          </a:prstGeom>
          <a:solidFill>
            <a:srgbClr val="FFD100"/>
          </a:solidFill>
          <a:ln>
            <a:noFill/>
          </a:ln>
        </p:spPr>
        <p:txBody>
          <a:bodyPr rtlCol="0" anchor="ctr" lIns="45720" rIns="45720" tIns="0" bIns="0" wrap="none"/>
          <a:lstStyle/>
          <a:p>
            <a:pPr algn="ctr"/>
            <a:r>
              <a:rPr sz="1050" b="1" i="0">
                <a:solidFill>
                  <a:srgbClr val="00377D"/>
                </a:solidFill>
                <a:latin typeface="Figtree"/>
              </a:rPr>
              <a:t>CVM · ISSUES MONITORING</a:t>
            </a:r>
          </a:p>
        </p:txBody>
      </p:sp>
      <p:sp>
        <p:nvSpPr>
          <p:cNvPr id="4" name="hdr:title"/>
          <p:cNvSpPr txBox="1"/>
          <p:nvPr/>
        </p:nvSpPr>
        <p:spPr>
          <a:xfrm>
            <a:off x="566928" y="62179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00377D"/>
                </a:solidFill>
                <a:latin typeface="Figtree"/>
              </a:rPr>
              <a:t>État d'avancement : </a:t>
            </a:r>
            <a:r>
              <a:rPr sz="2800" b="1" i="1">
                <a:solidFill>
                  <a:srgbClr val="5F99D2"/>
                </a:solidFill>
                <a:latin typeface="Figtree"/>
              </a:rPr>
              <a:t>4 fonctionnalités sur 7 livrées</a:t>
            </a:r>
          </a:p>
        </p:txBody>
      </p:sp>
      <p:sp>
        <p:nvSpPr>
          <p:cNvPr id="5" name="hdr:subtitle"/>
          <p:cNvSpPr txBox="1"/>
          <p:nvPr/>
        </p:nvSpPr>
        <p:spPr>
          <a:xfrm>
            <a:off x="566928" y="1444752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5B6674"/>
                </a:solidFill>
                <a:latin typeface="Figtree"/>
              </a:rPr>
              <a:t>Données jusqu'au 6 octobre 2026</a:t>
            </a:r>
          </a:p>
        </p:txBody>
      </p:sp>
      <p:pic>
        <p:nvPicPr>
          <p:cNvPr id="6" name="hdr:logo" descr="logo-y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329184"/>
            <a:ext cx="749808" cy="749808"/>
          </a:xfrm>
          <a:prstGeom prst="rect">
            <a:avLst/>
          </a:prstGeom>
        </p:spPr>
      </p:pic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84048" y="1883664"/>
          <a:ext cx="11420856" cy="43159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808781"/>
                <a:gridCol w="1803293"/>
                <a:gridCol w="480878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Figtree"/>
                        </a:rPr>
                        <a:t>Fonctionnalité</a:t>
                      </a:r>
                    </a:p>
                  </a:txBody>
                  <a:tcPr marL="128016" marR="128016" marT="45720" marB="45720" anchor="ctr">
                    <a:solidFill>
                      <a:srgbClr val="0037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Figtree"/>
                        </a:rPr>
                        <a:t>Statut</a:t>
                      </a:r>
                    </a:p>
                  </a:txBody>
                  <a:tcPr marL="128016" marR="128016" marT="45720" marB="45720" anchor="ctr">
                    <a:solidFill>
                      <a:srgbClr val="0037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Figtree"/>
                        </a:rPr>
                        <a:t>Commentaire</a:t>
                      </a:r>
                    </a:p>
                  </a:txBody>
                  <a:tcPr marL="128016" marR="128016" marT="45720" marB="45720" anchor="ctr">
                    <a:solidFill>
                      <a:srgbClr val="00377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Import quotidien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E8E3E"/>
                          </a:solidFill>
                          <a:latin typeface="Figtree"/>
                        </a:rPr>
                        <a:t>✓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32 fichiers historisés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Détection d'anomalies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E8E3E"/>
                          </a:solidFill>
                          <a:latin typeface="Figtree"/>
                        </a:rPr>
                        <a:t>✓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Règles actives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Alertes Teams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E8E3E"/>
                          </a:solidFill>
                          <a:latin typeface="Figtree"/>
                        </a:rPr>
                        <a:t>✓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Opérationnel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Tableau de bord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E8E3E"/>
                          </a:solidFill>
                          <a:latin typeface="Figtree"/>
                        </a:rPr>
                        <a:t>✓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4 onglets livrés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Alertes e-mail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D93025"/>
                          </a:solidFill>
                          <a:latin typeface="Figtree"/>
                        </a:rPr>
                        <a:t>✗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À activer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Validation des seuils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D93025"/>
                          </a:solidFill>
                          <a:latin typeface="Figtree"/>
                        </a:rPr>
                        <a:t>✗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À faire</a:t>
                      </a:r>
                    </a:p>
                  </a:txBody>
                  <a:tcPr marL="128016" marR="128016" marT="45720" marB="45720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377D"/>
                          </a:solidFill>
                          <a:latin typeface="Figtree"/>
                        </a:rPr>
                        <a:t>Traitement automatique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D93025"/>
                          </a:solidFill>
                          <a:latin typeface="Figtree"/>
                        </a:rPr>
                        <a:t>✗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B6674"/>
                          </a:solidFill>
                          <a:latin typeface="Figtree"/>
                        </a:rPr>
                        <a:t>À déployer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tr:source"/>
          <p:cNvSpPr txBox="1"/>
          <p:nvPr/>
        </p:nvSpPr>
        <p:spPr>
          <a:xfrm>
            <a:off x="384048" y="6473952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8A95A3"/>
                </a:solidFill>
                <a:latin typeface="Figtree"/>
              </a:rPr>
              <a:t>Source : CVM Issues Monitoring</a:t>
            </a:r>
          </a:p>
        </p:txBody>
      </p:sp>
      <p:sp>
        <p:nvSpPr>
          <p:cNvPr id="9" name="ftr:page"/>
          <p:cNvSpPr txBox="1"/>
          <p:nvPr/>
        </p:nvSpPr>
        <p:spPr>
          <a:xfrm>
            <a:off x="1133856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i="0">
                <a:solidFill>
                  <a:srgbClr val="8A95A3"/>
                </a:solidFill>
                <a:latin typeface="Figtree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AS">
      <a:dk1>
        <a:srgbClr val="222A33"/>
      </a:dk1>
      <a:lt1>
        <a:srgbClr val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5F99D2"/>
      </a:hlink>
      <a:folHlink>
        <a:srgbClr val="58508C"/>
      </a:folHlink>
    </a:clrScheme>
    <a:fontScheme name="Office">
      <a:maj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CVM Issues Monitoring</dc:title>
  <dc:subject/>
  <dc:creator>Équipe CVM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